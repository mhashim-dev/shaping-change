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optional reflection is a before-and-after self-check-in.</a:t>
            </a:r>
          </a:p>
          <a:p/>
          <a:p>
            <a:r>
              <a:t>At the START (intro): "How ready do you feel to lead positive change at home?" — five faces, or "Prefer not to say". This is the baseline. It is optional and never blocks progress.</a:t>
            </a:r>
          </a:p>
          <a:p/>
          <a:p>
            <a:r>
              <a:t>At the END (closing / support screen, deck slide 23): the same question, shown as the shift — e.g. 😟 → 😃 — so the participant sees how their own readiness moved from start to finish.</a:t>
            </a:r>
          </a:p>
          <a:p/>
          <a:p>
            <a:r>
              <a:t>It is private — nothing is collected or sent anywhere; the rating stays on the person's device.</a:t>
            </a:r>
          </a:p>
          <a:p/>
          <a:p>
            <a:r>
              <a:t>For discussion with Ali: keep the before/after (current), or move to a single reflection at the end near the pathways. The trade-off: a single end reflection is simpler, but there is no baseline to compare against, so we lose the "start to finish"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0000" y="300000"/>
            <a:ext cx="11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 ·    CLOSING REFLECTION    ·    FOR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000" y="740000"/>
            <a:ext cx="1115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0000" y="850000"/>
            <a:ext cx="1115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 i="1">
                <a:solidFill>
                  <a:srgbClr val="F5EFE2"/>
                </a:solidFill>
                <a:latin typeface="Georgia"/>
              </a:rPr>
              <a:t>The optional reflection — a before-and-after check-in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400" b="0" i="1">
                <a:solidFill>
                  <a:srgbClr val="CFC7B8"/>
                </a:solidFill>
                <a:latin typeface="Helvetica"/>
              </a:rPr>
              <a:t>Optional and private. Shown at the start as a baseline, then again at the end so participants can see how their own readiness moved.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000" y="1720000"/>
            <a:ext cx="4820000" cy="3150000"/>
          </a:xfrm>
          <a:prstGeom prst="roundRect">
            <a:avLst/>
          </a:prstGeom>
          <a:solidFill>
            <a:srgbClr val="17110A"/>
          </a:solidFill>
          <a:ln w="15875">
            <a:solidFill>
              <a:srgbClr val="F0C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980000"/>
            <a:ext cx="4180000" cy="2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①   AT THE START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500" b="0" i="1">
                <a:solidFill>
                  <a:srgbClr val="F5EFE2"/>
                </a:solidFill>
                <a:latin typeface="Georgia"/>
              </a:rPr>
              <a:t>How ready do you feel to lead positive change at home?</a:t>
            </a:r>
          </a:p>
          <a:p>
            <a:pPr algn="ctr">
              <a:lnSpc>
                <a:spcPct val="112000"/>
              </a:lnSpc>
              <a:spcAft>
                <a:spcPts val="1200"/>
              </a:spcAft>
            </a:pPr>
            <a:r>
              <a:rPr sz="3000" b="0" i="0">
                <a:solidFill>
                  <a:srgbClr val="F5EFE2"/>
                </a:solidFill>
                <a:latin typeface="Helvetica"/>
              </a:rPr>
              <a:t>😟    🙁    😐    🙂    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1">
                <a:solidFill>
                  <a:srgbClr val="CFC7B8"/>
                </a:solidFill>
                <a:latin typeface="Helvetica"/>
              </a:rPr>
              <a:t>the “before” baseline — optional (“Prefer not to say” is fine)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2000" y="1720000"/>
            <a:ext cx="4820000" cy="3150000"/>
          </a:xfrm>
          <a:prstGeom prst="roundRect">
            <a:avLst/>
          </a:prstGeom>
          <a:solidFill>
            <a:srgbClr val="17110A"/>
          </a:solidFill>
          <a:ln w="15875">
            <a:solidFill>
              <a:srgbClr val="F0C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2000" y="1980000"/>
            <a:ext cx="4180000" cy="2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②   AT THE END  ·  closing screen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</a:pPr>
            <a:r>
              <a:rPr sz="1500" b="0" i="1">
                <a:solidFill>
                  <a:srgbClr val="F5EFE2"/>
                </a:solidFill>
                <a:latin typeface="Georgia"/>
              </a:rPr>
              <a:t>You started here — and finished here:</a:t>
            </a:r>
          </a:p>
          <a:p>
            <a:pPr algn="ctr">
              <a:lnSpc>
                <a:spcPct val="112000"/>
              </a:lnSpc>
              <a:spcAft>
                <a:spcPts val="1200"/>
              </a:spcAft>
            </a:pPr>
            <a:r>
              <a:rPr sz="3400" b="0" i="0">
                <a:solidFill>
                  <a:srgbClr val="F5EFE2"/>
                </a:solidFill>
                <a:latin typeface="Helvetica"/>
              </a:rPr>
              <a:t>😟    →    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1">
                <a:solidFill>
                  <a:srgbClr val="CFC7B8"/>
                </a:solidFill>
                <a:latin typeface="Helvetica"/>
              </a:rPr>
              <a:t>the shift — shown near the pathways /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0" y="2650000"/>
            <a:ext cx="1192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 i="0">
                <a:solidFill>
                  <a:srgbClr val="F0C66A"/>
                </a:solidFill>
                <a:latin typeface="Helvetic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0" y="3450000"/>
            <a:ext cx="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1">
                <a:solidFill>
                  <a:srgbClr val="CFC7B8"/>
                </a:solidFill>
                <a:latin typeface="Helvetica"/>
              </a:rPr>
              <a:t>across the
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0000" y="5150000"/>
            <a:ext cx="10832000" cy="1150000"/>
          </a:xfrm>
          <a:prstGeom prst="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5290000"/>
            <a:ext cx="10200000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9FD4A6"/>
                </a:solidFill>
                <a:latin typeface="Helvetica"/>
              </a:rPr>
              <a:t>FOR DISCUSSION (with Ali)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F5EFE2"/>
                </a:solidFill>
                <a:latin typeface="Helvetica"/>
              </a:rPr>
              <a:t>Keep the before-and-after as is — it lets participants see their start-to-finish shift; </a:t>
            </a:r>
            <a:r>
              <a:rPr sz="1400" b="1" i="1">
                <a:solidFill>
                  <a:srgbClr val="F0C66A"/>
                </a:solidFill>
                <a:latin typeface="Helvetica"/>
              </a:rPr>
              <a:t>or</a:t>
            </a:r>
            <a:r>
              <a:rPr sz="1400" b="0" i="0">
                <a:solidFill>
                  <a:srgbClr val="F5EFE2"/>
                </a:solidFill>
                <a:latin typeface="Helvetica"/>
              </a:rPr>
              <a:t> move to a single reflection at the end near the pathways (simpler, but we’d lose the start-to-finish comparison).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Shaping Change — Closing Reflection (for review)</dc:title>
  <dc:subject/>
  <dc:creator>Shaping Change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