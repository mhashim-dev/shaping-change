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The goal of today is simple: by the end, you will be able to make changes to the game yourselves. You do NOT need a coding background — most of the work is editing a list of words and choices. We will do a real change together, live. Keep it relaxed and hands-on.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this is practical, not theory. The single most useful moment will be when we make a change together and watch it appear. Everything else supports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reassuring slide. Point at the left panel: this is where 90% of the work is, and anyone can do it. The right panel is for our one HTML/CSS person, who becomes the technical lead — they run the commands and own the look.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two-copies distinction clear, because it explains why we sometimes “rebuild”. The offline file is the thing we hand to people — it needs no internet and keeps everything on the player’s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Hammer this point. The scary-sounding technology (Next.js) draws the tree and runs the page — but the part you touch is a simple list of screens. Repeat: if you can edit a list, you can edit the 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Don’t dwell — just demystify the words so nobody freezes when they hear them. You’ll see each one in action in a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one-time thing per computer. It downloads the project’s parts. After this, the everyday commands just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this live if you can: run npm run dev, open localhost:3000, and leave it up for the rest of the session so every change we make shows instantly.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takeaway: one file to know (game-content.js). Two scripts you RUN but never edit. And the drawing engine, which we simply don’t touch.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fields slowly. The ones people will actually edit: prompt (heading), hint (body text), btn (button). “next” is how screens are chained together. Choice screens have an “options” list instead of a single “next” — same idea, one per button.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light. People don’t need the maths — just the idea that healthy choices lift the score and a higher score = a healthier tree and 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everyday jobs, and the written guide has numbered steps for each. Don’t read them out — just show that the recipes exist, then we’ll actually do the first one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HEART OF THE SESSION. Pick something small and visible — e.g. change the “Money worries” heading or a sentence. Go slowly, narrate each step, and let people follow along on their own machines if they can. When the change appears in the browser, that’s the “aha” moment — pause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this: always run it before sharing. It’s our safety net that protects the Edu/PVAW sign-offs. If it flags something, it tells you the exact rule and screen — it’s helpful, not scary.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loop to memorise. Steps 1–3 are for anyone; steps 4–5 (the rebuild + share) are a natural fit for the technical lead, though the commands are one line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 and firm. The first two are the common beginner slips; the safety check catches most of them. The last two are non-negotiable pedagogy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handing it over: point them to the written guide for the step-by-step recipes, and encourage everyone to try one change themselves now while you’re in the room to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0000" cy="6858000"/>
          </a:xfrm>
          <a:prstGeom prst="rect">
            <a:avLst/>
          </a:prstGeom>
          <a:solidFill>
            <a:srgbClr val="F0C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2000000"/>
            <a:ext cx="100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1600"/>
              </a:spcAft>
            </a:pPr>
            <a:r>
              <a:rPr sz="1500" b="1" i="0">
                <a:solidFill>
                  <a:srgbClr val="F0C66A"/>
                </a:solidFill>
                <a:latin typeface="Helvetica"/>
              </a:rPr>
              <a:t>TEAM TRAINING  &amp;  HANDOVER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4600" b="1" i="1">
                <a:solidFill>
                  <a:srgbClr val="F5EFE2"/>
                </a:solidFill>
                <a:latin typeface="Georgia"/>
              </a:rPr>
              <a:t>Shaping Change</a:t>
            </a:r>
          </a:p>
          <a:p>
            <a:pPr algn="l">
              <a:lnSpc>
                <a:spcPct val="108000"/>
              </a:lnSpc>
              <a:spcAft>
                <a:spcPts val="2000"/>
              </a:spcAft>
            </a:pPr>
            <a:r>
              <a:rPr sz="2000" b="0" i="1">
                <a:solidFill>
                  <a:srgbClr val="F0C66A"/>
                </a:solidFill>
                <a:latin typeface="Georgia"/>
              </a:rPr>
              <a:t>Maintaining and updating the game — a hands-on session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CFC7B8"/>
                </a:solidFill>
                <a:latin typeface="Helvetica"/>
              </a:rPr>
              <a:t>No coding background needed  ·  [Presenter]  · 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0000" y="330000"/>
            <a:ext cx="100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F0C66A"/>
                </a:solidFill>
                <a:latin typeface="Helvetica"/>
              </a:rPr>
              <a:t>SHAPING CHANGE   ·   TEAM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0000" y="780000"/>
            <a:ext cx="11072000" cy="9000"/>
          </a:xfrm>
          <a:prstGeom prst="rect">
            <a:avLst/>
          </a:prstGeom>
          <a:solidFill>
            <a:srgbClr val="4A3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0000" y="1080000"/>
            <a:ext cx="11072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3000" b="1" i="1">
                <a:solidFill>
                  <a:srgbClr val="F5EFE2"/>
                </a:solidFill>
                <a:latin typeface="Georgia"/>
              </a:rPr>
              <a:t>What we’ll 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2350000"/>
            <a:ext cx="11072000" cy="4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7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700" b="0" i="0">
                <a:solidFill>
                  <a:srgbClr val="F5EFE2"/>
                </a:solidFill>
                <a:latin typeface="Helvetica"/>
              </a:rPr>
              <a:t>How the game is built — the simple version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7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700" b="0" i="0">
                <a:solidFill>
                  <a:srgbClr val="F5EFE2"/>
                </a:solidFill>
                <a:latin typeface="Helvetica"/>
              </a:rPr>
              <a:t>Who does what on the team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7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700" b="0" i="0">
                <a:solidFill>
                  <a:srgbClr val="F5EFE2"/>
                </a:solidFill>
                <a:latin typeface="Helvetica"/>
              </a:rPr>
              <a:t>The one file you’ll edit most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7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700" b="0" i="0">
                <a:solidFill>
                  <a:srgbClr val="F5EFE2"/>
                </a:solidFill>
                <a:latin typeface="Helvetica"/>
              </a:rPr>
              <a:t>Making a real change together, start to finish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7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700" b="0" i="0">
                <a:solidFill>
                  <a:srgbClr val="F5EFE2"/>
                </a:solidFill>
                <a:latin typeface="Helvetica"/>
              </a:rPr>
              <a:t>The safety check, and how to share the game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0000" y="330000"/>
            <a:ext cx="100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F0C66A"/>
                </a:solidFill>
                <a:latin typeface="Helvetica"/>
              </a:rPr>
              <a:t>SHAPING CHANGE   ·   TEAM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0000" y="780000"/>
            <a:ext cx="11072000" cy="9000"/>
          </a:xfrm>
          <a:prstGeom prst="rect">
            <a:avLst/>
          </a:prstGeom>
          <a:solidFill>
            <a:srgbClr val="4A3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0000" y="1080000"/>
            <a:ext cx="11072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1">
                <a:solidFill>
                  <a:srgbClr val="F5EFE2"/>
                </a:solidFill>
                <a:latin typeface="Georgia"/>
              </a:rPr>
              <a:t>Who does what on the team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i="1">
                <a:solidFill>
                  <a:srgbClr val="F0C66A"/>
                </a:solidFill>
                <a:latin typeface="Helvetica"/>
              </a:rPr>
              <a:t>Most updates need no coding at 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0000" y="2450000"/>
            <a:ext cx="5300000" cy="3250000"/>
          </a:xfrm>
          <a:prstGeom prst="roundRect">
            <a:avLst/>
          </a:prstGeom>
          <a:solidFill>
            <a:srgbClr val="17110A"/>
          </a:solidFill>
          <a:ln w="12700">
            <a:solidFill>
              <a:srgbClr val="4A3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0000" y="2730000"/>
            <a:ext cx="4660000" cy="26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8FD19A"/>
                </a:solidFill>
                <a:latin typeface="Helvetica"/>
              </a:rPr>
              <a:t>ANYONE ON THE TEAM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300" b="1" i="1">
                <a:solidFill>
                  <a:srgbClr val="F5EFE2"/>
                </a:solidFill>
                <a:latin typeface="Georgia"/>
              </a:rPr>
              <a:t>The content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50" b="0" i="0">
                <a:solidFill>
                  <a:srgbClr val="CFC7B8"/>
                </a:solidFill>
                <a:latin typeface="Helvetica"/>
              </a:rPr>
              <a:t>Edit the words on any screen · change or add an answer option · change the support links · add new screens. This is careful list-editing in one file — not programming.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0000" y="2450000"/>
            <a:ext cx="5300000" cy="3250000"/>
          </a:xfrm>
          <a:prstGeom prst="roundRect">
            <a:avLst/>
          </a:prstGeom>
          <a:solidFill>
            <a:srgbClr val="17110A"/>
          </a:solidFill>
          <a:ln w="12700">
            <a:solidFill>
              <a:srgbClr val="4A3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0000" y="2730000"/>
            <a:ext cx="4660000" cy="26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8FC0FF"/>
                </a:solidFill>
                <a:latin typeface="Helvetica"/>
              </a:rPr>
              <a:t>YOUR HTML / CSS PERSON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300" b="1" i="1">
                <a:solidFill>
                  <a:srgbClr val="F5EFE2"/>
                </a:solidFill>
                <a:latin typeface="Georgia"/>
              </a:rPr>
              <a:t>The technical lead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50" b="0" i="0">
                <a:solidFill>
                  <a:srgbClr val="CFC7B8"/>
                </a:solidFill>
                <a:latin typeface="Helvetica"/>
              </a:rPr>
              <a:t>Install the tools · run the short commands · rebuild the shareable file · handle the “look” (colours, fonts, spacing — that’s CSS). First person to call if something breaks.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0000" y="330000"/>
            <a:ext cx="100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F0C66A"/>
                </a:solidFill>
                <a:latin typeface="Helvetica"/>
              </a:rPr>
              <a:t>SHAPING CHANGE   ·   TEAM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0000" y="780000"/>
            <a:ext cx="11072000" cy="9000"/>
          </a:xfrm>
          <a:prstGeom prst="rect">
            <a:avLst/>
          </a:prstGeom>
          <a:solidFill>
            <a:srgbClr val="4A3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0000" y="1080000"/>
            <a:ext cx="11072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1">
                <a:solidFill>
                  <a:srgbClr val="F5EFE2"/>
                </a:solidFill>
                <a:latin typeface="Georgia"/>
              </a:rPr>
              <a:t>The big picture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i="1">
                <a:solidFill>
                  <a:srgbClr val="F0C66A"/>
                </a:solidFill>
                <a:latin typeface="Helvetica"/>
              </a:rPr>
              <a:t>There are two copies of the same game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2350000"/>
            <a:ext cx="11072000" cy="4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7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700" b="1" i="0">
                <a:solidFill>
                  <a:srgbClr val="F5EFE2"/>
                </a:solidFill>
                <a:latin typeface="Helvetica"/>
              </a:rPr>
              <a:t>The dev app —  </a:t>
            </a:r>
            <a:r>
              <a:rPr sz="1700" b="0" i="0">
                <a:solidFill>
                  <a:srgbClr val="CFC7B8"/>
                </a:solidFill>
                <a:latin typeface="Helvetica"/>
              </a:rPr>
              <a:t>what you edit and preview live while working (runs on your computer only).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7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700" b="1" i="0">
                <a:solidFill>
                  <a:srgbClr val="F5EFE2"/>
                </a:solidFill>
                <a:latin typeface="Helvetica"/>
              </a:rPr>
              <a:t>The offline game —  </a:t>
            </a:r>
            <a:r>
              <a:rPr sz="1700" b="0" i="0">
                <a:solidFill>
                  <a:srgbClr val="CFC7B8"/>
                </a:solidFill>
                <a:latin typeface="Helvetica"/>
              </a:rPr>
              <a:t>the single file you SHARE: “Power-Pressure-Choice-POC.html”. Runs on any device, no internet.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7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700" b="1" i="0">
                <a:solidFill>
                  <a:srgbClr val="F5EFE2"/>
                </a:solidFill>
                <a:latin typeface="Helvetica"/>
              </a:rPr>
              <a:t>Both read the same words &amp; choices —  </a:t>
            </a:r>
            <a:r>
              <a:rPr sz="1700" b="0" i="0">
                <a:solidFill>
                  <a:srgbClr val="CFC7B8"/>
                </a:solidFill>
                <a:latin typeface="Helvetica"/>
              </a:rPr>
              <a:t>so you write the content once. The dev app updates instantly; the offline game is “rebuilt” with one command when you’re ready to share.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0000" y="330000"/>
            <a:ext cx="100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F0C66A"/>
                </a:solidFill>
                <a:latin typeface="Helvetica"/>
              </a:rPr>
              <a:t>SHAPING CHANGE   ·   TEAM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0000" y="780000"/>
            <a:ext cx="11072000" cy="9000"/>
          </a:xfrm>
          <a:prstGeom prst="rect">
            <a:avLst/>
          </a:prstGeom>
          <a:solidFill>
            <a:srgbClr val="4A3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0000" y="1080000"/>
            <a:ext cx="11072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3000" b="1" i="1">
                <a:solidFill>
                  <a:srgbClr val="F5EFE2"/>
                </a:solidFill>
                <a:latin typeface="Georgia"/>
              </a:rPr>
              <a:t>The one idea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2300000"/>
            <a:ext cx="11072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2200" b="1" i="1">
                <a:solidFill>
                  <a:srgbClr val="F5EFE2"/>
                </a:solidFill>
                <a:latin typeface="Georgia"/>
              </a:rPr>
              <a:t>The words &amp; choices are kept separate from the drawing &amp; mechanics.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F5EFE2"/>
                </a:solidFill>
                <a:latin typeface="Helvetica"/>
              </a:rPr>
              <a:t>So about </a:t>
            </a:r>
            <a:r>
              <a:rPr sz="1800" b="1" i="0">
                <a:solidFill>
                  <a:srgbClr val="F5EFE2"/>
                </a:solidFill>
                <a:latin typeface="Helvetica"/>
              </a:rPr>
              <a:t>90% of changes live in ONE plain file: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3450000"/>
            <a:ext cx="7200000" cy="620000"/>
          </a:xfrm>
          <a:prstGeom prst="roundRect">
            <a:avLst/>
          </a:prstGeom>
          <a:solidFill>
            <a:srgbClr val="17110A"/>
          </a:solidFill>
          <a:ln w="12700">
            <a:solidFill>
              <a:srgbClr val="4A3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0000" y="3610000"/>
            <a:ext cx="67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E9E2D2"/>
                </a:solidFill>
                <a:latin typeface="Consolas"/>
              </a:rPr>
              <a:t>lib/game-content.js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4300000"/>
            <a:ext cx="110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0" i="1">
                <a:solidFill>
                  <a:srgbClr val="F0C66A"/>
                </a:solidFill>
                <a:latin typeface="Helvetica"/>
              </a:rPr>
              <a:t>If you can edit a list, you can edit the game.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0000" y="330000"/>
            <a:ext cx="100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F0C66A"/>
                </a:solidFill>
                <a:latin typeface="Helvetica"/>
              </a:rPr>
              <a:t>SHAPING CHANGE   ·   TEAM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0000" y="780000"/>
            <a:ext cx="11072000" cy="9000"/>
          </a:xfrm>
          <a:prstGeom prst="rect">
            <a:avLst/>
          </a:prstGeom>
          <a:solidFill>
            <a:srgbClr val="4A3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0000" y="1080000"/>
            <a:ext cx="11072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3000" b="1" i="1">
                <a:solidFill>
                  <a:srgbClr val="F5EFE2"/>
                </a:solidFill>
                <a:latin typeface="Georgia"/>
              </a:rPr>
              <a:t>A few words you’ll hear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2350000"/>
            <a:ext cx="11072000" cy="4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600" b="1" i="0">
                <a:solidFill>
                  <a:srgbClr val="F5EFE2"/>
                </a:solidFill>
                <a:latin typeface="Helvetica"/>
              </a:rPr>
              <a:t>Next.js / React —  </a:t>
            </a:r>
            <a:r>
              <a:rPr sz="1600" b="0" i="0">
                <a:solidFill>
                  <a:srgbClr val="CFC7B8"/>
                </a:solidFill>
                <a:latin typeface="Helvetica"/>
              </a:rPr>
              <a:t>the engine that turns our files into a web page. You rarely touch it.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600" b="1" i="0">
                <a:solidFill>
                  <a:srgbClr val="F5EFE2"/>
                </a:solidFill>
                <a:latin typeface="Helvetica"/>
              </a:rPr>
              <a:t>Node.js / npm —  </a:t>
            </a:r>
            <a:r>
              <a:rPr sz="1600" b="0" i="0">
                <a:solidFill>
                  <a:srgbClr val="CFC7B8"/>
                </a:solidFill>
                <a:latin typeface="Helvetica"/>
              </a:rPr>
              <a:t>a free program that runs the short commands. Installed once.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600" b="1" i="0">
                <a:solidFill>
                  <a:srgbClr val="F5EFE2"/>
                </a:solidFill>
                <a:latin typeface="Helvetica"/>
              </a:rPr>
              <a:t>Terminal —  </a:t>
            </a:r>
            <a:r>
              <a:rPr sz="1600" b="0" i="0">
                <a:solidFill>
                  <a:srgbClr val="CFC7B8"/>
                </a:solidFill>
                <a:latin typeface="Helvetica"/>
              </a:rPr>
              <a:t>the text window where you type commands (in the editor: View → Terminal).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600" b="1" i="0">
                <a:solidFill>
                  <a:srgbClr val="F5EFE2"/>
                </a:solidFill>
                <a:latin typeface="Helvetica"/>
              </a:rPr>
              <a:t>localhost:3000 —  </a:t>
            </a:r>
            <a:r>
              <a:rPr sz="1600" b="0" i="0">
                <a:solidFill>
                  <a:srgbClr val="CFC7B8"/>
                </a:solidFill>
                <a:latin typeface="Helvetica"/>
              </a:rPr>
              <a:t>your own private preview of the game while you work.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600" b="1" i="0">
                <a:solidFill>
                  <a:srgbClr val="F5EFE2"/>
                </a:solidFill>
                <a:latin typeface="Helvetica"/>
              </a:rPr>
              <a:t>VS Code —  </a:t>
            </a:r>
            <a:r>
              <a:rPr sz="1600" b="0" i="0">
                <a:solidFill>
                  <a:srgbClr val="CFC7B8"/>
                </a:solidFill>
                <a:latin typeface="Helvetica"/>
              </a:rPr>
              <a:t>the free editor we use to open the project and edit files.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0000" y="330000"/>
            <a:ext cx="100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F0C66A"/>
                </a:solidFill>
                <a:latin typeface="Helvetica"/>
              </a:rPr>
              <a:t>SHAPING CHANGE   ·   TEAM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0000" y="780000"/>
            <a:ext cx="11072000" cy="9000"/>
          </a:xfrm>
          <a:prstGeom prst="rect">
            <a:avLst/>
          </a:prstGeom>
          <a:solidFill>
            <a:srgbClr val="4A3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0000" y="1080000"/>
            <a:ext cx="11072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1">
                <a:solidFill>
                  <a:srgbClr val="F5EFE2"/>
                </a:solidFill>
                <a:latin typeface="Georgia"/>
              </a:rPr>
              <a:t>One-time setup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i="1">
                <a:solidFill>
                  <a:srgbClr val="F0C66A"/>
                </a:solidFill>
                <a:latin typeface="Helvetica"/>
              </a:rPr>
              <a:t>WHO: your HTML/CSS person, once per computer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2350000"/>
            <a:ext cx="11072000" cy="4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7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700" b="0" i="0">
                <a:solidFill>
                  <a:srgbClr val="F5EFE2"/>
                </a:solidFill>
                <a:latin typeface="Helvetica"/>
              </a:rPr>
              <a:t>Install Node.js — nodejs.org, the “LTS” version, click through the defaults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7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700" b="0" i="0">
                <a:solidFill>
                  <a:srgbClr val="F5EFE2"/>
                </a:solidFill>
                <a:latin typeface="Helvetica"/>
              </a:rPr>
              <a:t>Install VS Code — code.visualstudio.com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7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700" b="0" i="0">
                <a:solidFill>
                  <a:srgbClr val="F5EFE2"/>
                </a:solidFill>
                <a:latin typeface="Helvetica"/>
              </a:rPr>
              <a:t>In VS Code: File → Open Folder → the “ames-tree-main” folder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7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700" b="0" i="0">
                <a:solidFill>
                  <a:srgbClr val="F5EFE2"/>
                </a:solidFill>
                <a:latin typeface="Helvetica"/>
              </a:rPr>
              <a:t>Open the Terminal (View → Terminal) and run: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4650000"/>
            <a:ext cx="5200000" cy="620000"/>
          </a:xfrm>
          <a:prstGeom prst="roundRect">
            <a:avLst/>
          </a:prstGeom>
          <a:solidFill>
            <a:srgbClr val="17110A"/>
          </a:solidFill>
          <a:ln w="12700">
            <a:solidFill>
              <a:srgbClr val="4A3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0000" y="4810000"/>
            <a:ext cx="47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E9E2D2"/>
                </a:solidFill>
                <a:latin typeface="Consolas"/>
              </a:rPr>
              <a:t>npm install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0000" y="330000"/>
            <a:ext cx="100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F0C66A"/>
                </a:solidFill>
                <a:latin typeface="Helvetica"/>
              </a:rPr>
              <a:t>SHAPING CHANGE   ·   TEAM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0000" y="780000"/>
            <a:ext cx="11072000" cy="9000"/>
          </a:xfrm>
          <a:prstGeom prst="rect">
            <a:avLst/>
          </a:prstGeom>
          <a:solidFill>
            <a:srgbClr val="4A3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0000" y="1080000"/>
            <a:ext cx="11072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1">
                <a:solidFill>
                  <a:srgbClr val="F5EFE2"/>
                </a:solidFill>
                <a:latin typeface="Georgia"/>
              </a:rPr>
              <a:t>See the game and your changes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i="1">
                <a:solidFill>
                  <a:srgbClr val="F0C66A"/>
                </a:solidFill>
                <a:latin typeface="Helvetica"/>
              </a:rPr>
              <a:t>WHO: anyone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2300000"/>
            <a:ext cx="11072000" cy="40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700" b="0" i="0">
                <a:solidFill>
                  <a:srgbClr val="F5EFE2"/>
                </a:solidFill>
                <a:latin typeface="Helvetica"/>
              </a:rPr>
              <a:t>In the Terminal, run this and leave it running: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2850000"/>
            <a:ext cx="5200000" cy="560000"/>
          </a:xfrm>
          <a:prstGeom prst="roundRect">
            <a:avLst/>
          </a:prstGeom>
          <a:solidFill>
            <a:srgbClr val="17110A"/>
          </a:solidFill>
          <a:ln w="12700">
            <a:solidFill>
              <a:srgbClr val="4A3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0000" y="3010000"/>
            <a:ext cx="476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E9E2D2"/>
                </a:solidFill>
                <a:latin typeface="Consolas"/>
              </a:rPr>
              <a:t>npm run 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3700000"/>
            <a:ext cx="11072000" cy="26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7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700" b="0" i="0">
                <a:solidFill>
                  <a:srgbClr val="F5EFE2"/>
                </a:solidFill>
                <a:latin typeface="Helvetica"/>
              </a:rPr>
              <a:t>Open a browser to  http://localhost:3000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7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700" b="0" i="0">
                <a:solidFill>
                  <a:srgbClr val="F5EFE2"/>
                </a:solidFill>
                <a:latin typeface="Helvetica"/>
              </a:rPr>
              <a:t>Edit a file and Save → the page updates by itself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7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700" b="0" i="0">
                <a:solidFill>
                  <a:srgbClr val="F5EFE2"/>
                </a:solidFill>
                <a:latin typeface="Helvetica"/>
              </a:rPr>
              <a:t>The offline game: just double-click the HTML file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0000" y="330000"/>
            <a:ext cx="100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F0C66A"/>
                </a:solidFill>
                <a:latin typeface="Helvetica"/>
              </a:rPr>
              <a:t>SHAPING CHANGE   ·   TEAM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0000" y="780000"/>
            <a:ext cx="11072000" cy="9000"/>
          </a:xfrm>
          <a:prstGeom prst="rect">
            <a:avLst/>
          </a:prstGeom>
          <a:solidFill>
            <a:srgbClr val="4A3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0000" y="1080000"/>
            <a:ext cx="11072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3000" b="1" i="1">
                <a:solidFill>
                  <a:srgbClr val="F5EFE2"/>
                </a:solidFill>
                <a:latin typeface="Georgia"/>
              </a:rPr>
              <a:t>Which file does 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2350000"/>
            <a:ext cx="11072000" cy="4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600" b="1" i="0">
                <a:solidFill>
                  <a:srgbClr val="F5EFE2"/>
                </a:solidFill>
                <a:latin typeface="Helvetica"/>
              </a:rPr>
              <a:t>lib/game-content.js —  </a:t>
            </a:r>
            <a:r>
              <a:rPr sz="1600" b="0" i="0">
                <a:solidFill>
                  <a:srgbClr val="CFC7B8"/>
                </a:solidFill>
                <a:latin typeface="Helvetica"/>
              </a:rPr>
              <a:t>every screen: the words, the choices, the order. YOUR MAIN FILE.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600" b="1" i="0">
                <a:solidFill>
                  <a:srgbClr val="F5EFE2"/>
                </a:solidFill>
                <a:latin typeface="Helvetica"/>
              </a:rPr>
              <a:t>app/globals.css —  </a:t>
            </a:r>
            <a:r>
              <a:rPr sz="1600" b="0" i="0">
                <a:solidFill>
                  <a:srgbClr val="CFC7B8"/>
                </a:solidFill>
                <a:latin typeface="Helvetica"/>
              </a:rPr>
              <a:t>colours, fonts, spacing (the “look”) — for the CSS person.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600" b="1" i="0">
                <a:solidFill>
                  <a:srgbClr val="F5EFE2"/>
                </a:solidFill>
                <a:latin typeface="Helvetica"/>
              </a:rPr>
              <a:t>validate-content.mjs —  </a:t>
            </a:r>
            <a:r>
              <a:rPr sz="1600" b="0" i="0">
                <a:solidFill>
                  <a:srgbClr val="CFC7B8"/>
                </a:solidFill>
                <a:latin typeface="Helvetica"/>
              </a:rPr>
              <a:t>the safety check. You run it; you don’t edit it.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600" b="1" i="0">
                <a:solidFill>
                  <a:srgbClr val="F5EFE2"/>
                </a:solidFill>
                <a:latin typeface="Helvetica"/>
              </a:rPr>
              <a:t>build-poc.cjs —  </a:t>
            </a:r>
            <a:r>
              <a:rPr sz="1600" b="0" i="0">
                <a:solidFill>
                  <a:srgbClr val="CFC7B8"/>
                </a:solidFill>
                <a:latin typeface="Helvetica"/>
              </a:rPr>
              <a:t>builds the offline shareable game. You run it; you don’t edit it.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6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600" b="1" i="0">
                <a:solidFill>
                  <a:srgbClr val="F5EFE2"/>
                </a:solidFill>
                <a:latin typeface="Helvetica"/>
              </a:rPr>
              <a:t>lib/tree-engine.js —  </a:t>
            </a:r>
            <a:r>
              <a:rPr sz="1600" b="0" i="0">
                <a:solidFill>
                  <a:srgbClr val="CFC7B8"/>
                </a:solidFill>
                <a:latin typeface="Helvetica"/>
              </a:rPr>
              <a:t>draws the tree and Orion. Advanced — leave it alone.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0000" y="330000"/>
            <a:ext cx="100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F0C66A"/>
                </a:solidFill>
                <a:latin typeface="Helvetica"/>
              </a:rPr>
              <a:t>SHAPING CHANGE   ·   TEAM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0000" y="780000"/>
            <a:ext cx="11072000" cy="9000"/>
          </a:xfrm>
          <a:prstGeom prst="rect">
            <a:avLst/>
          </a:prstGeom>
          <a:solidFill>
            <a:srgbClr val="4A3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0000" y="1080000"/>
            <a:ext cx="11072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3000" b="1" i="1">
                <a:solidFill>
                  <a:srgbClr val="F5EFE2"/>
                </a:solidFill>
                <a:latin typeface="Georgia"/>
              </a:rPr>
              <a:t>How one screen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780000"/>
            <a:ext cx="1107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i="1">
                <a:solidFill>
                  <a:srgbClr val="CFC7B8"/>
                </a:solidFill>
                <a:latin typeface="Helvetica"/>
              </a:rPr>
              <a:t>Each screen is one block in the list. Here is a real one: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2300000"/>
            <a:ext cx="11072000" cy="3550000"/>
          </a:xfrm>
          <a:prstGeom prst="roundRect">
            <a:avLst/>
          </a:prstGeom>
          <a:solidFill>
            <a:srgbClr val="17110A"/>
          </a:solidFill>
          <a:ln w="12700">
            <a:solidFill>
              <a:srgbClr val="4A3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0000" y="2460000"/>
            <a:ext cx="10632000" cy="3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E9E2D2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E9E2D2"/>
                </a:solidFill>
                <a:latin typeface="Consolas"/>
              </a:rPr>
              <a:t>  id: 'pressure_money',        // the screen's internal name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E9E2D2"/>
                </a:solidFill>
                <a:latin typeface="Consolas"/>
              </a:rPr>
              <a:t>  type: 'story',               // story = narration + a Continue button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E9E2D2"/>
                </a:solidFill>
                <a:latin typeface="Consolas"/>
              </a:rPr>
              <a:t>  prompt: 'Money worries',     // the big heading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E9E2D2"/>
                </a:solidFill>
                <a:latin typeface="Consolas"/>
              </a:rPr>
              <a:t>  hint: 'Back home, Orion ...',// the body text the player reads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E9E2D2"/>
                </a:solidFill>
                <a:latin typeface="Consolas"/>
              </a:rPr>
              <a:t>  btn: 'Continue',             // the button label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E9E2D2"/>
                </a:solidFill>
                <a:latin typeface="Consolas"/>
              </a:rPr>
              <a:t>  fx: { health: -7 },          // effect on the hidden 'health' score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E9E2D2"/>
                </a:solidFill>
                <a:latin typeface="Consolas"/>
              </a:rPr>
              <a:t>  next: 'pressure_role'        // which screen comes next (by its id)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E9E2D2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0000" y="330000"/>
            <a:ext cx="100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F0C66A"/>
                </a:solidFill>
                <a:latin typeface="Helvetica"/>
              </a:rPr>
              <a:t>SHAPING CHANGE   ·   TEAM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0000" y="780000"/>
            <a:ext cx="11072000" cy="9000"/>
          </a:xfrm>
          <a:prstGeom prst="rect">
            <a:avLst/>
          </a:prstGeom>
          <a:solidFill>
            <a:srgbClr val="4A3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0000" y="1080000"/>
            <a:ext cx="11072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1">
                <a:solidFill>
                  <a:srgbClr val="F5EFE2"/>
                </a:solidFill>
                <a:latin typeface="Georgia"/>
              </a:rPr>
              <a:t>How it all connects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i="1">
                <a:solidFill>
                  <a:srgbClr val="F0C66A"/>
                </a:solidFill>
                <a:latin typeface="Helvetica"/>
              </a:rPr>
              <a:t>and how the ending is chosen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2350000"/>
            <a:ext cx="11072000" cy="4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7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700" b="1" i="0">
                <a:solidFill>
                  <a:srgbClr val="F5EFE2"/>
                </a:solidFill>
                <a:latin typeface="Helvetica"/>
              </a:rPr>
              <a:t>“next” —  </a:t>
            </a:r>
            <a:r>
              <a:rPr sz="1700" b="0" i="0">
                <a:solidFill>
                  <a:srgbClr val="CFC7B8"/>
                </a:solidFill>
                <a:latin typeface="Helvetica"/>
              </a:rPr>
              <a:t>links each screen to the one after it, by its id. Follow the “next” values to trace the whole story.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7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700" b="1" i="0">
                <a:solidFill>
                  <a:srgbClr val="F5EFE2"/>
                </a:solidFill>
                <a:latin typeface="Helvetica"/>
              </a:rPr>
              <a:t>the hidden “health” score —  </a:t>
            </a:r>
            <a:r>
              <a:rPr sz="1700" b="0" i="0">
                <a:solidFill>
                  <a:srgbClr val="CFC7B8"/>
                </a:solidFill>
                <a:latin typeface="Helvetica"/>
              </a:rPr>
              <a:t>starts at 68; each choice nudges it up or down — that’s what makes the tree greener or barer.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7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700" b="1" i="0">
                <a:solidFill>
                  <a:srgbClr val="F5EFE2"/>
                </a:solidFill>
                <a:latin typeface="Helvetica"/>
              </a:rPr>
              <a:t>the ending —  </a:t>
            </a:r>
            <a:r>
              <a:rPr sz="1700" b="0" i="0">
                <a:solidFill>
                  <a:srgbClr val="CFC7B8"/>
                </a:solidFill>
                <a:latin typeface="Helvetica"/>
              </a:rPr>
              <a:t>the game reads the score: 70+ = healthy tree · 40–69 = healing · below 40 = under strain.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0000" y="330000"/>
            <a:ext cx="100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F0C66A"/>
                </a:solidFill>
                <a:latin typeface="Helvetica"/>
              </a:rPr>
              <a:t>SHAPING CHANGE   ·   TEAM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0000" y="780000"/>
            <a:ext cx="11072000" cy="9000"/>
          </a:xfrm>
          <a:prstGeom prst="rect">
            <a:avLst/>
          </a:prstGeom>
          <a:solidFill>
            <a:srgbClr val="4A3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0000" y="1080000"/>
            <a:ext cx="11072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1">
                <a:solidFill>
                  <a:srgbClr val="F5EFE2"/>
                </a:solidFill>
                <a:latin typeface="Georgia"/>
              </a:rPr>
              <a:t>The common changes (recipes)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i="1">
                <a:solidFill>
                  <a:srgbClr val="F0C66A"/>
                </a:solidFill>
                <a:latin typeface="Helvetica"/>
              </a:rPr>
              <a:t>each is a step-by-step in the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2350000"/>
            <a:ext cx="11072000" cy="4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7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700" b="0" i="0">
                <a:solidFill>
                  <a:srgbClr val="F5EFE2"/>
                </a:solidFill>
                <a:latin typeface="Helvetica"/>
              </a:rPr>
              <a:t>Change the words on a screen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7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700" b="0" i="0">
                <a:solidFill>
                  <a:srgbClr val="F5EFE2"/>
                </a:solidFill>
                <a:latin typeface="Helvetica"/>
              </a:rPr>
              <a:t>Change or add an answer option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7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700" b="0" i="0">
                <a:solidFill>
                  <a:srgbClr val="F5EFE2"/>
                </a:solidFill>
                <a:latin typeface="Helvetica"/>
              </a:rPr>
              <a:t>Change the support links (last screen)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7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700" b="0" i="0">
                <a:solidFill>
                  <a:srgbClr val="F5EFE2"/>
                </a:solidFill>
                <a:latin typeface="Helvetica"/>
              </a:rPr>
              <a:t>Add a whole new screen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7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700" b="0" i="0">
                <a:solidFill>
                  <a:srgbClr val="F5EFE2"/>
                </a:solidFill>
                <a:latin typeface="Helvetica"/>
              </a:rPr>
              <a:t>Change the picture (thought bubble) on a screen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F0C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900000"/>
            <a:ext cx="10792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500" b="1" i="0">
                <a:solidFill>
                  <a:srgbClr val="F0C66A"/>
                </a:solidFill>
                <a:latin typeface="Helvetica"/>
              </a:rPr>
              <a:t>LET’S DO IT LIVE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1">
                <a:solidFill>
                  <a:srgbClr val="F5EFE2"/>
                </a:solidFill>
                <a:latin typeface="Georgia"/>
              </a:rPr>
              <a:t>Change a screen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2350000"/>
            <a:ext cx="11072000" cy="4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8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800" b="0" i="0">
                <a:solidFill>
                  <a:srgbClr val="F5EFE2"/>
                </a:solidFill>
                <a:latin typeface="Helvetica"/>
              </a:rPr>
              <a:t>1.  Find the screen in  lib/game-content.js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8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800" b="0" i="0">
                <a:solidFill>
                  <a:srgbClr val="F5EFE2"/>
                </a:solidFill>
                <a:latin typeface="Helvetica"/>
              </a:rPr>
              <a:t>2.  Edit the words, and Save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8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800" b="0" i="0">
                <a:solidFill>
                  <a:srgbClr val="F5EFE2"/>
                </a:solidFill>
                <a:latin typeface="Helvetica"/>
              </a:rPr>
              <a:t>3.  Run:  npm run test:content   (the safety check)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8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800" b="0" i="0">
                <a:solidFill>
                  <a:srgbClr val="F5EFE2"/>
                </a:solidFill>
                <a:latin typeface="Helvetica"/>
              </a:rPr>
              <a:t>4.  Watch it appear at  localhost:3000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8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800" b="0" i="0">
                <a:solidFill>
                  <a:srgbClr val="F5EFE2"/>
                </a:solidFill>
                <a:latin typeface="Helvetica"/>
              </a:rPr>
              <a:t>5.  Run:  npm run build:poc   (updates the file we share)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0000" y="330000"/>
            <a:ext cx="100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F0C66A"/>
                </a:solidFill>
                <a:latin typeface="Helvetica"/>
              </a:rPr>
              <a:t>SHAPING CHANGE   ·   TEAM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0000" y="780000"/>
            <a:ext cx="11072000" cy="9000"/>
          </a:xfrm>
          <a:prstGeom prst="rect">
            <a:avLst/>
          </a:prstGeom>
          <a:solidFill>
            <a:srgbClr val="4A3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0000" y="1080000"/>
            <a:ext cx="11072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1">
                <a:solidFill>
                  <a:srgbClr val="F5EFE2"/>
                </a:solidFill>
                <a:latin typeface="Georgia"/>
              </a:rPr>
              <a:t>The safety check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i="1">
                <a:solidFill>
                  <a:srgbClr val="F0C66A"/>
                </a:solidFill>
                <a:latin typeface="Helvetica"/>
              </a:rPr>
              <a:t>run it after every change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0000" y="1900000"/>
            <a:ext cx="5600000" cy="560000"/>
          </a:xfrm>
          <a:prstGeom prst="roundRect">
            <a:avLst/>
          </a:prstGeom>
          <a:solidFill>
            <a:srgbClr val="17110A"/>
          </a:solidFill>
          <a:ln w="12700">
            <a:solidFill>
              <a:srgbClr val="4A3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0000" y="2060000"/>
            <a:ext cx="516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E9E2D2"/>
                </a:solidFill>
                <a:latin typeface="Consolas"/>
              </a:rPr>
              <a:t>npm run test:content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750000"/>
            <a:ext cx="11072000" cy="36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5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500" b="0" i="0">
                <a:solidFill>
                  <a:srgbClr val="F5EFE2"/>
                </a:solidFill>
                <a:latin typeface="Helvetica"/>
              </a:rPr>
              <a:t>Because this is a violence-PREVENTION tool, some rules must never break by accident. It confirms: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5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500" b="1" i="0">
                <a:solidFill>
                  <a:srgbClr val="F5EFE2"/>
                </a:solidFill>
                <a:latin typeface="Helvetica"/>
              </a:rPr>
              <a:t>  </a:t>
            </a:r>
            <a:r>
              <a:rPr sz="1500" b="0" i="0">
                <a:solidFill>
                  <a:srgbClr val="CFC7B8"/>
                </a:solidFill>
                <a:latin typeface="Helvetica"/>
              </a:rPr>
              <a:t>a harmful choice can never heal the tree · help-seeking always heals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5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500" b="1" i="0">
                <a:solidFill>
                  <a:srgbClr val="F5EFE2"/>
                </a:solidFill>
                <a:latin typeface="Helvetica"/>
              </a:rPr>
              <a:t>  </a:t>
            </a:r>
            <a:r>
              <a:rPr sz="1500" b="0" i="0">
                <a:solidFill>
                  <a:srgbClr val="CFC7B8"/>
                </a:solidFill>
                <a:latin typeface="Helvetica"/>
              </a:rPr>
              <a:t>the 1800RESPECT / 000 support line is on every screen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5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500" b="1" i="0">
                <a:solidFill>
                  <a:srgbClr val="F5EFE2"/>
                </a:solidFill>
                <a:latin typeface="Helvetica"/>
              </a:rPr>
              <a:t>  </a:t>
            </a:r>
            <a:r>
              <a:rPr sz="1500" b="0" i="0">
                <a:solidFill>
                  <a:srgbClr val="CFC7B8"/>
                </a:solidFill>
                <a:latin typeface="Helvetica"/>
              </a:rPr>
              <a:t>all three outcomes stay reachable · every link is real · statistics keep their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5650000"/>
            <a:ext cx="1107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i="1">
                <a:solidFill>
                  <a:srgbClr val="F0C66A"/>
                </a:solidFill>
                <a:latin typeface="Helvetica"/>
              </a:rPr>
              <a:t>“✓ All 10 invariant groups hold” = you’re good. An error names exactly what to fix.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0000" y="330000"/>
            <a:ext cx="100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F0C66A"/>
                </a:solidFill>
                <a:latin typeface="Helvetica"/>
              </a:rPr>
              <a:t>SHAPING CHANGE   ·   TEAM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0000" y="780000"/>
            <a:ext cx="11072000" cy="9000"/>
          </a:xfrm>
          <a:prstGeom prst="rect">
            <a:avLst/>
          </a:prstGeom>
          <a:solidFill>
            <a:srgbClr val="4A3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0000" y="1080000"/>
            <a:ext cx="11072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3000" b="1" i="1">
                <a:solidFill>
                  <a:srgbClr val="F5EFE2"/>
                </a:solidFill>
                <a:latin typeface="Georgia"/>
              </a:rPr>
              <a:t>The everyday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0000" y="2100000"/>
            <a:ext cx="11072000" cy="2400000"/>
          </a:xfrm>
          <a:prstGeom prst="roundRect">
            <a:avLst/>
          </a:prstGeom>
          <a:solidFill>
            <a:srgbClr val="17110A"/>
          </a:solidFill>
          <a:ln w="12700">
            <a:solidFill>
              <a:srgbClr val="4A3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0000" y="2260000"/>
            <a:ext cx="10632000" cy="2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E9E2D2"/>
                </a:solidFill>
                <a:latin typeface="Consolas"/>
              </a:rPr>
              <a:t>1.  Edit  lib/game-content.js   and Save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E9E2D2"/>
                </a:solidFill>
                <a:latin typeface="Consolas"/>
              </a:rPr>
              <a:t>2.  npm run test:content         (safety check — fix anything it flags)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E9E2D2"/>
                </a:solidFill>
                <a:latin typeface="Consolas"/>
              </a:rPr>
              <a:t>3.  Look at  http://localhost:3000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E9E2D2"/>
                </a:solidFill>
                <a:latin typeface="Consolas"/>
              </a:rPr>
              <a:t>4.  npm run build:poc            (updates the offline shareable game)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E9E2D2"/>
                </a:solidFill>
                <a:latin typeface="Consolas"/>
              </a:rPr>
              <a:t>5.  Share  Power-Pressure-Choice-POC.html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0000" y="330000"/>
            <a:ext cx="100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F0C66A"/>
                </a:solidFill>
                <a:latin typeface="Helvetica"/>
              </a:rPr>
              <a:t>SHAPING CHANGE   ·   TEAM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0000" y="780000"/>
            <a:ext cx="11072000" cy="9000"/>
          </a:xfrm>
          <a:prstGeom prst="rect">
            <a:avLst/>
          </a:prstGeom>
          <a:solidFill>
            <a:srgbClr val="4A3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0000" y="1080000"/>
            <a:ext cx="11072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3000" b="1" i="1">
                <a:solidFill>
                  <a:srgbClr val="F5EFE2"/>
                </a:solidFill>
                <a:latin typeface="Georgia"/>
              </a:rPr>
              <a:t>A few things to be careful with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2350000"/>
            <a:ext cx="11072000" cy="4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7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700" b="0" i="0">
                <a:solidFill>
                  <a:srgbClr val="F5EFE2"/>
                </a:solidFill>
                <a:latin typeface="Helvetica"/>
              </a:rPr>
              <a:t>Don’t rename a screen’s id unless you also fix every “next” that points to it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7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700" b="0" i="0">
                <a:solidFill>
                  <a:srgbClr val="F5EFE2"/>
                </a:solidFill>
                <a:latin typeface="Helvetica"/>
              </a:rPr>
              <a:t>Mind your commas and quotes — a blank page usually means a typo; just undo (Ctrl/Cmd + Z)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7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700" b="0" i="0">
                <a:solidFill>
                  <a:srgbClr val="F5EFE2"/>
                </a:solidFill>
                <a:latin typeface="Helvetica"/>
              </a:rPr>
              <a:t>Never remove the support line; never let a harmful choice heal the tree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7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700" b="0" i="0">
                <a:solidFill>
                  <a:srgbClr val="F5EFE2"/>
                </a:solidFill>
                <a:latin typeface="Helvetica"/>
              </a:rPr>
              <a:t>Any change to safety wording or statistics → back to Edu / PVAW before publishing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0000" y="330000"/>
            <a:ext cx="100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F0C66A"/>
                </a:solidFill>
                <a:latin typeface="Helvetica"/>
              </a:rPr>
              <a:t>SHAPING CHANGE   ·   TEAM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0000" y="780000"/>
            <a:ext cx="11072000" cy="9000"/>
          </a:xfrm>
          <a:prstGeom prst="rect">
            <a:avLst/>
          </a:prstGeom>
          <a:solidFill>
            <a:srgbClr val="4A3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0000" y="1080000"/>
            <a:ext cx="11072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3000" b="1" i="1">
                <a:solidFill>
                  <a:srgbClr val="F5EFE2"/>
                </a:solidFill>
                <a:latin typeface="Georgia"/>
              </a:rPr>
              <a:t>Cheat-sheet &amp; where to 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0000" y="1950000"/>
            <a:ext cx="11072000" cy="1850000"/>
          </a:xfrm>
          <a:prstGeom prst="roundRect">
            <a:avLst/>
          </a:prstGeom>
          <a:solidFill>
            <a:srgbClr val="17110A"/>
          </a:solidFill>
          <a:ln w="12700">
            <a:solidFill>
              <a:srgbClr val="4A3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0000" y="2110000"/>
            <a:ext cx="10632000" cy="15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E9E2D2"/>
                </a:solidFill>
                <a:latin typeface="Consolas"/>
              </a:rPr>
              <a:t>npm install            one-time setup on a new computer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E9E2D2"/>
                </a:solidFill>
                <a:latin typeface="Consolas"/>
              </a:rPr>
              <a:t>npm run dev            start the live preview (localhost:3000)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E9E2D2"/>
                </a:solidFill>
                <a:latin typeface="Consolas"/>
              </a:rPr>
              <a:t>npm run test:content   the pedagogy safety check (after every edit)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E9E2D2"/>
                </a:solidFill>
                <a:latin typeface="Consolas"/>
              </a:rPr>
              <a:t>npm run build:poc      rebuild the offline shareable game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4150000"/>
            <a:ext cx="11072000" cy="22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500" b="1" i="0">
                <a:solidFill>
                  <a:srgbClr val="F5EFE2"/>
                </a:solidFill>
                <a:latin typeface="Helvetica"/>
              </a:rPr>
              <a:t>Two files to remember:  </a:t>
            </a:r>
            <a:r>
              <a:rPr sz="1500" b="0" i="0">
                <a:solidFill>
                  <a:srgbClr val="CFC7B8"/>
                </a:solidFill>
                <a:latin typeface="Helvetica"/>
              </a:rPr>
              <a:t>lib/game-content.js (all the words &amp; choices) and validate-content.mjs (the rules).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1" i="0">
                <a:solidFill>
                  <a:srgbClr val="F0C66A"/>
                </a:solidFill>
                <a:latin typeface="Helvetica"/>
              </a:rPr>
              <a:t>•  </a:t>
            </a:r>
            <a:r>
              <a:rPr sz="1500" b="1" i="0">
                <a:solidFill>
                  <a:srgbClr val="F5EFE2"/>
                </a:solidFill>
                <a:latin typeface="Helvetica"/>
              </a:rPr>
              <a:t>You also have:  </a:t>
            </a:r>
            <a:r>
              <a:rPr sz="1500" b="0" i="0">
                <a:solidFill>
                  <a:srgbClr val="CFC7B8"/>
                </a:solidFill>
                <a:latin typeface="Helvetica"/>
              </a:rPr>
              <a:t>a full written guide (Word) and this deck to refer back 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5750000"/>
            <a:ext cx="1107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1">
                <a:solidFill>
                  <a:srgbClr val="F0C66A"/>
                </a:solidFill>
                <a:latin typeface="Georgia"/>
              </a:rPr>
              <a:t>Thank you — questions &amp; a go at it yourselves.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Shaping Change — Team Training &amp; Handover</dc:title>
  <dc:subject/>
  <dc:creator>Shaping Change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