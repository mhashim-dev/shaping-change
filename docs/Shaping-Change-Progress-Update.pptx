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status. Both content approvals are now in — Edu signed off on the 14th, PVAW on the 16th — so the content is locked. This week I turned the approved blueprint into screen-by-screen design mockups for all 22 screens, mapped the full flow, confirmed the plan to a mid-August first draft, and set up the build and started Phase 1 development. Next milestone is a Phase 1 preview for you on the 26th–27th, so we can fold in your feedback before the advisory group meeting. On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decisions the two sign-offs locked in — the title, the character and scenario, the prevention approach (no depicted physical violence), the finalised statistics with citations, and the structure. Next I will preview Phase 1 with you on the 26th–27th, complete Phase 2, then do the accessibility and security/privacy work and internal QA — landing the first playable draft in mid-August. No blockers; still to confirm the character name with the Digital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design mockups produced this week — one for every screen in the journey, using the exact copy and flow that Edu and PVAW signed off. You can see the story in the tree: it declines through Phase 1 as the pressure builds, then heals (and bears fruit) as he rebuilds. This is what I am now building into Phase 1 for the preview on the 26th–27th.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-flouris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0000" y="300000"/>
            <a:ext cx="11592000" cy="6258000"/>
          </a:xfrm>
          <a:prstGeom prst="roundRect">
            <a:avLst/>
          </a:prstGeom>
          <a:solidFill>
            <a:srgbClr val="17110A"/>
          </a:solidFill>
          <a:ln w="15875">
            <a:solidFill>
              <a:srgbClr val="F0C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20000"/>
            <a:ext cx="8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0C66A"/>
                </a:solidFill>
                <a:latin typeface="Helvetica"/>
              </a:rPr>
              <a:t>WEEKLY  PROGRESS  UPDATE   ·   WEEK OF 14–20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000" y="780000"/>
            <a:ext cx="88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 i="1">
                <a:solidFill>
                  <a:srgbClr val="F5EFE2"/>
                </a:solidFill>
                <a:latin typeface="Georgia"/>
              </a:rPr>
              <a:t>Shaping Change</a:t>
            </a:r>
          </a:p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F0C66A"/>
                </a:solidFill>
                <a:latin typeface="Georgia"/>
              </a:rPr>
              <a:t>Building strong roots for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0000" y="660000"/>
            <a:ext cx="2820000" cy="620000"/>
          </a:xfrm>
          <a:prstGeom prst="roundRect">
            <a:avLst/>
          </a:prstGeom>
          <a:solidFill>
            <a:srgbClr val="F0C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Helvetica"/>
              </a:rPr>
              <a:t>●  </a:t>
            </a:r>
            <a:r>
              <a:rPr sz="1400" b="1" i="0">
                <a:solidFill>
                  <a:srgbClr val="2A1F10"/>
                </a:solidFill>
                <a:latin typeface="Helvetica"/>
              </a:rPr>
              <a:t>ON TRACK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1930000"/>
            <a:ext cx="10792000" cy="12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2060000"/>
            <a:ext cx="63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C66A"/>
                </a:solidFill>
                <a:latin typeface="Helvetica"/>
              </a:rPr>
              <a:t>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440000"/>
            <a:ext cx="6350000" cy="3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450" b="1" i="0">
                <a:solidFill>
                  <a:srgbClr val="F0C66A"/>
                </a:solidFill>
                <a:latin typeface="Helvetica"/>
              </a:rPr>
              <a:t>✓   </a:t>
            </a:r>
            <a:r>
              <a:rPr sz="1350" b="0" i="0">
                <a:solidFill>
                  <a:srgbClr val="F5EFE2"/>
                </a:solidFill>
                <a:latin typeface="Helvetica"/>
              </a:rPr>
              <a:t>Educational content approved — Edu team  (14 Jul)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450" b="1" i="0">
                <a:solidFill>
                  <a:srgbClr val="F0C66A"/>
                </a:solidFill>
                <a:latin typeface="Helvetica"/>
              </a:rPr>
              <a:t>✓   </a:t>
            </a:r>
            <a:r>
              <a:rPr sz="1350" b="0" i="0">
                <a:solidFill>
                  <a:srgbClr val="F5EFE2"/>
                </a:solidFill>
                <a:latin typeface="Helvetica"/>
              </a:rPr>
              <a:t>PVAW sign-off — pedagogy, prevention approach, statistics &amp; citations  (16 Jul)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450" b="1" i="0">
                <a:solidFill>
                  <a:srgbClr val="F0C66A"/>
                </a:solidFill>
                <a:latin typeface="Helvetica"/>
              </a:rPr>
              <a:t>✓   </a:t>
            </a:r>
            <a:r>
              <a:rPr sz="1350" b="0" i="0">
                <a:solidFill>
                  <a:srgbClr val="F5EFE2"/>
                </a:solidFill>
                <a:latin typeface="Helvetica"/>
              </a:rPr>
              <a:t>Scope locked &amp; project plan confirmed to mid-August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450" b="1" i="0">
                <a:solidFill>
                  <a:srgbClr val="F0C66A"/>
                </a:solidFill>
                <a:latin typeface="Helvetica"/>
              </a:rPr>
              <a:t>✓   </a:t>
            </a:r>
            <a:r>
              <a:rPr sz="1350" b="0" i="0">
                <a:solidFill>
                  <a:srgbClr val="F5EFE2"/>
                </a:solidFill>
                <a:latin typeface="Helvetica"/>
              </a:rPr>
              <a:t>Screen-by-screen design mockups produced — all 22 screens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450" b="1" i="0">
                <a:solidFill>
                  <a:srgbClr val="F0C66A"/>
                </a:solidFill>
                <a:latin typeface="Helvetica"/>
              </a:rPr>
              <a:t>✓   </a:t>
            </a:r>
            <a:r>
              <a:rPr sz="1350" b="0" i="0">
                <a:solidFill>
                  <a:srgbClr val="F5EFE2"/>
                </a:solidFill>
                <a:latin typeface="Helvetica"/>
              </a:rPr>
              <a:t>Screen flow &amp; interactions mapped end-to-end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 i="0">
                <a:solidFill>
                  <a:srgbClr val="F0C66A"/>
                </a:solidFill>
                <a:latin typeface="Helvetica"/>
              </a:rPr>
              <a:t>▸   </a:t>
            </a:r>
            <a:r>
              <a:rPr sz="1350" b="0" i="1">
                <a:solidFill>
                  <a:srgbClr val="CFC7B8"/>
                </a:solidFill>
                <a:latin typeface="Helvetica"/>
              </a:rPr>
              <a:t>Build environment set up; Phase 1 development underway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50000" y="2060000"/>
            <a:ext cx="4240000" cy="2760000"/>
          </a:xfrm>
          <a:prstGeom prst="roundRect">
            <a:avLst/>
          </a:prstGeom>
          <a:solidFill>
            <a:srgbClr val="241B10"/>
          </a:solidFill>
          <a:ln w="12700">
            <a:solidFill>
              <a:srgbClr val="4A3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0" y="2210000"/>
            <a:ext cx="3780000" cy="2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MILESTONES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✓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14 Jul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  —  Edu sign-off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✓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16 Jul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  —  PVAW sign-off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▸  </a:t>
            </a:r>
            <a:r>
              <a:rPr sz="1300" b="1" i="0">
                <a:solidFill>
                  <a:srgbClr val="F0C66A"/>
                </a:solidFill>
                <a:latin typeface="Helvetica"/>
              </a:rPr>
              <a:t>26–27 Jul</a:t>
            </a:r>
            <a:r>
              <a:rPr sz="1250" b="1" i="0">
                <a:solidFill>
                  <a:srgbClr val="F5EFE2"/>
                </a:solidFill>
                <a:latin typeface="Helvetica"/>
              </a:rPr>
              <a:t>  —  Phase 1 preview</a:t>
            </a:r>
          </a:p>
          <a:p>
            <a:pPr algn="l">
              <a:spcAft>
                <a:spcPts val="1300"/>
              </a:spcAft>
            </a:pPr>
            <a:r>
              <a:rPr sz="1350" b="0" i="0">
                <a:solidFill>
                  <a:srgbClr val="CFC7B8"/>
                </a:solidFill>
                <a:latin typeface="Helvetica"/>
              </a:rPr>
              <a:t>○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mid-Aug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  —  first draft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CFC7B8"/>
                </a:solidFill>
                <a:latin typeface="Helvetica"/>
              </a:rPr>
              <a:t>Phase 1 preview → your feedback before the advisory group meeting.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5980000"/>
            <a:ext cx="10792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0C66A"/>
                </a:solidFill>
                <a:latin typeface="Helvetica"/>
              </a:rPr>
              <a:t>✓ </a:t>
            </a:r>
            <a:r>
              <a:rPr sz="1200" b="1" i="0">
                <a:solidFill>
                  <a:srgbClr val="F5EFE2"/>
                </a:solidFill>
                <a:latin typeface="Helvetica"/>
              </a:rPr>
              <a:t>Content</a:t>
            </a:r>
            <a:r>
              <a:rPr sz="1200" b="0" i="0">
                <a:solidFill>
                  <a:srgbClr val="4A3E2A"/>
                </a:solidFill>
                <a:latin typeface="Helvetica"/>
              </a:rPr>
              <a:t>     ·     </a:t>
            </a:r>
            <a:r>
              <a:rPr sz="1250" b="1" i="0">
                <a:solidFill>
                  <a:srgbClr val="F0C66A"/>
                </a:solidFill>
                <a:latin typeface="Helvetica"/>
              </a:rPr>
              <a:t>✓ </a:t>
            </a:r>
            <a:r>
              <a:rPr sz="1200" b="1" i="0">
                <a:solidFill>
                  <a:srgbClr val="F5EFE2"/>
                </a:solidFill>
                <a:latin typeface="Helvetica"/>
              </a:rPr>
              <a:t>Design</a:t>
            </a:r>
            <a:r>
              <a:rPr sz="1200" b="0" i="0">
                <a:solidFill>
                  <a:srgbClr val="4A3E2A"/>
                </a:solidFill>
                <a:latin typeface="Helvetica"/>
              </a:rPr>
              <a:t>     ·     </a:t>
            </a:r>
            <a:r>
              <a:rPr sz="1250" b="1" i="0">
                <a:solidFill>
                  <a:srgbClr val="F0C66A"/>
                </a:solidFill>
                <a:latin typeface="Helvetica"/>
              </a:rPr>
              <a:t>▸ </a:t>
            </a:r>
            <a:r>
              <a:rPr sz="1200" b="1" i="0">
                <a:solidFill>
                  <a:srgbClr val="F0C66A"/>
                </a:solidFill>
                <a:latin typeface="Helvetica"/>
              </a:rPr>
              <a:t>Build (in progress)</a:t>
            </a:r>
            <a:r>
              <a:rPr sz="1200" b="0" i="0">
                <a:solidFill>
                  <a:srgbClr val="4A3E2A"/>
                </a:solidFill>
                <a:latin typeface="Helvetica"/>
              </a:rPr>
              <a:t>     ·     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○ </a:t>
            </a:r>
            <a:r>
              <a:rPr sz="1200" b="0" i="0">
                <a:solidFill>
                  <a:srgbClr val="CFC7B8"/>
                </a:solidFill>
                <a:latin typeface="Helvetica"/>
              </a:rPr>
              <a:t>Accessibility + security</a:t>
            </a:r>
            <a:r>
              <a:rPr sz="1200" b="0" i="0">
                <a:solidFill>
                  <a:srgbClr val="4A3E2A"/>
                </a:solidFill>
                <a:latin typeface="Helvetica"/>
              </a:rPr>
              <a:t>     ·     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○ </a:t>
            </a:r>
            <a:r>
              <a:rPr sz="1200" b="0" i="0">
                <a:solidFill>
                  <a:srgbClr val="CFC7B8"/>
                </a:solidFill>
                <a:latin typeface="Helvetica"/>
              </a:rPr>
              <a:t>QA + first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-flouris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0000" y="300000"/>
            <a:ext cx="11592000" cy="6258000"/>
          </a:xfrm>
          <a:prstGeom prst="roundRect">
            <a:avLst/>
          </a:prstGeom>
          <a:solidFill>
            <a:srgbClr val="17110A"/>
          </a:solidFill>
          <a:ln w="15875">
            <a:solidFill>
              <a:srgbClr val="F0C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20000"/>
            <a:ext cx="106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0C66A"/>
                </a:solidFill>
                <a:latin typeface="Helvetica"/>
              </a:rPr>
              <a:t>SHAPING CHANGE   ·   PROGRESS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000" y="760000"/>
            <a:ext cx="1080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1">
                <a:solidFill>
                  <a:srgbClr val="F5EFE2"/>
                </a:solidFill>
                <a:latin typeface="Georgia"/>
              </a:rPr>
              <a:t>What’s locked — and what’s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1640000"/>
            <a:ext cx="10792000" cy="12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820000"/>
            <a:ext cx="5450000" cy="4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F0C66A"/>
                </a:solidFill>
                <a:latin typeface="Helvetica"/>
              </a:rPr>
              <a:t>LOCKED THIS WEEK  (from the sign-offs)</a:t>
            </a:r>
          </a:p>
          <a:p>
            <a:pPr algn="l">
              <a:lnSpc>
                <a:spcPct val="103000"/>
              </a:lnSpc>
              <a:spcAft>
                <a:spcPts val="10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Activity title — 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“Shaping Change: Building strong roots for safety”</a:t>
            </a:r>
          </a:p>
          <a:p>
            <a:pPr algn="l">
              <a:lnSpc>
                <a:spcPct val="103000"/>
              </a:lnSpc>
              <a:spcAft>
                <a:spcPts val="10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Character &amp; scenario — 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Mr. Atlas — migration pressure &amp; loss of status (primary-prevention framing)</a:t>
            </a:r>
          </a:p>
          <a:p>
            <a:pPr algn="l">
              <a:lnSpc>
                <a:spcPct val="103000"/>
              </a:lnSpc>
              <a:spcAft>
                <a:spcPts val="10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Prevention approach — 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internal-cause model — no depicted physical violence; escalation shown through non-physical behaviour</a:t>
            </a:r>
          </a:p>
          <a:p>
            <a:pPr algn="l">
              <a:lnSpc>
                <a:spcPct val="103000"/>
              </a:lnSpc>
              <a:spcAft>
                <a:spcPts val="10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Statistics — 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finalised with citations (AIHW 2018 · PM&amp;C 2023 · ABS 2021), placed at the end</a:t>
            </a:r>
          </a:p>
          <a:p>
            <a:pPr algn="l">
              <a:lnSpc>
                <a:spcPct val="103000"/>
              </a:lnSpc>
              <a:spcAft>
                <a:spcPts val="10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Structure — 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beliefs + attitudes combined; one scenario with a couple of pathways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0000" y="1820000"/>
            <a:ext cx="5140000" cy="4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F0C66A"/>
                </a:solidFill>
                <a:latin typeface="Helvetica"/>
              </a:rPr>
              <a:t>NEXT  —  TO MID-AUGUST</a:t>
            </a:r>
          </a:p>
          <a:p>
            <a:pPr algn="l">
              <a:lnSpc>
                <a:spcPct val="103000"/>
              </a:lnSpc>
              <a:spcAft>
                <a:spcPts val="10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Preview Phase 1 with you — 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26–27 Jul — to fold in your feedback before the advisory group meeting</a:t>
            </a:r>
          </a:p>
          <a:p>
            <a:pPr algn="l">
              <a:lnSpc>
                <a:spcPct val="103000"/>
              </a:lnSpc>
              <a:spcAft>
                <a:spcPts val="10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Complete Phase 2 — 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the rebuild outcomes and reflection</a:t>
            </a:r>
          </a:p>
          <a:p>
            <a:pPr algn="l">
              <a:lnSpc>
                <a:spcPct val="103000"/>
              </a:lnSpc>
              <a:spcAft>
                <a:spcPts val="10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Accessibility pass — 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WCAG 2.1 AA — built for EAL learners</a:t>
            </a:r>
          </a:p>
          <a:p>
            <a:pPr algn="l">
              <a:lnSpc>
                <a:spcPct val="103000"/>
              </a:lnSpc>
              <a:spcAft>
                <a:spcPts val="10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Security &amp; privacy review — 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with the Digital team / IT sign-off</a:t>
            </a:r>
          </a:p>
          <a:p>
            <a:pPr algn="l">
              <a:lnSpc>
                <a:spcPct val="103000"/>
              </a:lnSpc>
              <a:spcAft>
                <a:spcPts val="1000"/>
              </a:spcAft>
            </a:pPr>
            <a:r>
              <a:rPr sz="135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300" b="1" i="0">
                <a:solidFill>
                  <a:srgbClr val="F5EFE2"/>
                </a:solidFill>
                <a:latin typeface="Helvetica"/>
              </a:rPr>
              <a:t>Internal QA &amp; review — </a:t>
            </a:r>
            <a:r>
              <a:rPr sz="1250" b="0" i="0">
                <a:solidFill>
                  <a:srgbClr val="CFC7B8"/>
                </a:solidFill>
                <a:latin typeface="Helvetica"/>
              </a:rPr>
              <a:t>test the flow end-to-end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 i="0">
                <a:solidFill>
                  <a:srgbClr val="F0C66A"/>
                </a:solidFill>
                <a:latin typeface="Helvetica"/>
              </a:rPr>
              <a:t>★  </a:t>
            </a:r>
            <a:r>
              <a:rPr sz="1450" b="1" i="0">
                <a:solidFill>
                  <a:srgbClr val="F5EFE2"/>
                </a:solidFill>
                <a:latin typeface="Helvetica"/>
              </a:rPr>
              <a:t>First playable draft — mid-August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6180000"/>
            <a:ext cx="10792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1">
                <a:solidFill>
                  <a:srgbClr val="CFC7B8"/>
                </a:solidFill>
                <a:latin typeface="Helvetica"/>
              </a:rPr>
              <a:t>On track, no blockers. Next step: preview Phase 1 with you on 26–27 July to fold in changes before the advisory group meeting.  (Still to confirm the character name with the Digital team.)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-flouris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0000" y="300000"/>
            <a:ext cx="11592000" cy="6258000"/>
          </a:xfrm>
          <a:prstGeom prst="roundRect">
            <a:avLst/>
          </a:prstGeom>
          <a:solidFill>
            <a:srgbClr val="17110A"/>
          </a:solidFill>
          <a:ln w="15875">
            <a:solidFill>
              <a:srgbClr val="F0C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-designs-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00" y="591800"/>
            <a:ext cx="11072000" cy="567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Shaping Change — Weekly Progress Update</dc:title>
  <dc:subject/>
  <dc:creator>Shaping Change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